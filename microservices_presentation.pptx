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91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PT"/>
              <a:t>Clique para editar o estilo de subtítulo do Modelo Global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1759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768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c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8565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487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254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03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550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396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137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716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340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8926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basir/node-react-ecommerce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/>
              <a:t>Microservices-Based E-Commerce Application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0" indent="0">
              <a:buNone/>
            </a:pPr>
            <a:endParaRPr lang="pt-PT" dirty="0"/>
          </a:p>
          <a:p>
            <a:pPr marL="0" indent="0" algn="ctr">
              <a:buNone/>
            </a:pPr>
            <a:r>
              <a:rPr dirty="0"/>
              <a:t>Master’s in Computer Engineering </a:t>
            </a:r>
            <a:r>
              <a:rPr lang="pt-PT" dirty="0"/>
              <a:t>- </a:t>
            </a:r>
            <a:r>
              <a:rPr dirty="0"/>
              <a:t>Mobile Computing</a:t>
            </a:r>
          </a:p>
          <a:p>
            <a:pPr marL="0" indent="0" algn="ctr">
              <a:buNone/>
            </a:pPr>
            <a:r>
              <a:rPr dirty="0"/>
              <a:t>Student: Pedro </a:t>
            </a:r>
            <a:r>
              <a:rPr lang="pt-PT" dirty="0"/>
              <a:t>Henrique </a:t>
            </a:r>
            <a:r>
              <a:rPr dirty="0"/>
              <a:t>Fernandes (2240198)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Transform a monolithic </a:t>
            </a:r>
            <a:r>
              <a:rPr dirty="0">
                <a:hlinkClick r:id="rId2"/>
              </a:rPr>
              <a:t>e-commerce</a:t>
            </a:r>
            <a:r>
              <a:rPr dirty="0"/>
              <a:t> app into a microservices system</a:t>
            </a:r>
            <a:r>
              <a:rPr lang="pt-PT" dirty="0"/>
              <a:t>.</a:t>
            </a:r>
          </a:p>
          <a:p>
            <a:endParaRPr lang="pt-PT" dirty="0"/>
          </a:p>
          <a:p>
            <a:r>
              <a:rPr dirty="0"/>
              <a:t>Goals:</a:t>
            </a:r>
          </a:p>
          <a:p>
            <a:pPr lvl="1"/>
            <a:r>
              <a:rPr dirty="0"/>
              <a:t>Modularity</a:t>
            </a:r>
          </a:p>
          <a:p>
            <a:pPr lvl="1"/>
            <a:r>
              <a:rPr dirty="0"/>
              <a:t>Scalability</a:t>
            </a:r>
          </a:p>
          <a:p>
            <a:pPr lvl="1"/>
            <a:r>
              <a:rPr dirty="0"/>
              <a:t>Maintainability</a:t>
            </a:r>
          </a:p>
          <a:p>
            <a:endParaRPr dirty="0"/>
          </a:p>
          <a:p>
            <a:r>
              <a:rPr dirty="0"/>
              <a:t>Features:</a:t>
            </a:r>
          </a:p>
          <a:p>
            <a:pPr lvl="1"/>
            <a:r>
              <a:rPr dirty="0"/>
              <a:t>Browse products</a:t>
            </a:r>
          </a:p>
          <a:p>
            <a:pPr lvl="1"/>
            <a:r>
              <a:rPr dirty="0"/>
              <a:t>Manage accounts</a:t>
            </a:r>
          </a:p>
          <a:p>
            <a:pPr lvl="1"/>
            <a:r>
              <a:rPr dirty="0"/>
              <a:t>Place orders</a:t>
            </a:r>
            <a:endParaRPr lang="pt-PT" dirty="0"/>
          </a:p>
          <a:p>
            <a:pPr lvl="1"/>
            <a:r>
              <a:rPr lang="pt-PT" dirty="0" err="1"/>
              <a:t>PayPal</a:t>
            </a:r>
            <a:r>
              <a:rPr lang="pt-PT" dirty="0"/>
              <a:t> </a:t>
            </a:r>
            <a:r>
              <a:rPr lang="pt-PT" dirty="0" err="1"/>
              <a:t>integration</a:t>
            </a:r>
            <a:endParaRPr lang="pt-PT" dirty="0"/>
          </a:p>
          <a:p>
            <a:pPr lvl="1"/>
            <a:r>
              <a:rPr lang="pt-PT" dirty="0"/>
              <a:t>Real Time </a:t>
            </a:r>
            <a:r>
              <a:rPr lang="pt-PT" dirty="0" err="1"/>
              <a:t>Notifications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Independent services</a:t>
            </a:r>
          </a:p>
          <a:p>
            <a:r>
              <a:rPr dirty="0"/>
              <a:t>Communication:</a:t>
            </a:r>
          </a:p>
          <a:p>
            <a:pPr lvl="1"/>
            <a:r>
              <a:rPr dirty="0"/>
              <a:t>REST APIs</a:t>
            </a:r>
          </a:p>
          <a:p>
            <a:pPr lvl="1"/>
            <a:r>
              <a:rPr dirty="0"/>
              <a:t>Asynchronous messaging</a:t>
            </a:r>
            <a:r>
              <a:rPr lang="pt-PT" dirty="0"/>
              <a:t> (</a:t>
            </a:r>
            <a:r>
              <a:rPr lang="pt-PT" dirty="0" err="1"/>
              <a:t>Events</a:t>
            </a:r>
            <a:r>
              <a:rPr lang="pt-PT" dirty="0"/>
              <a:t>)</a:t>
            </a:r>
            <a:endParaRPr dirty="0"/>
          </a:p>
          <a:p>
            <a:r>
              <a:rPr dirty="0"/>
              <a:t>Single entry point:</a:t>
            </a:r>
          </a:p>
          <a:p>
            <a:pPr lvl="1"/>
            <a:r>
              <a:rPr dirty="0"/>
              <a:t>API Gateway (nginx)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6588"/>
            <a:ext cx="8229600" cy="1143000"/>
          </a:xfrm>
        </p:spPr>
        <p:txBody>
          <a:bodyPr/>
          <a:lstStyle/>
          <a:p>
            <a:r>
              <a:rPr dirty="0"/>
              <a:t>Architecture Overview</a:t>
            </a:r>
          </a:p>
        </p:txBody>
      </p:sp>
      <p:pic>
        <p:nvPicPr>
          <p:cNvPr id="5" name="Marcador de Posição de Conteúdo 4">
            <a:extLst>
              <a:ext uri="{FF2B5EF4-FFF2-40B4-BE49-F238E27FC236}">
                <a16:creationId xmlns:a16="http://schemas.microsoft.com/office/drawing/2014/main" id="{C7F28CAD-B068-C26E-4B35-542421D366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07799" y="1846263"/>
            <a:ext cx="5572852" cy="40227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Microservices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User Service: authentication &amp; users</a:t>
            </a:r>
          </a:p>
          <a:p>
            <a:r>
              <a:rPr dirty="0"/>
              <a:t>Product Service: catalog &amp; images</a:t>
            </a:r>
          </a:p>
          <a:p>
            <a:r>
              <a:rPr dirty="0"/>
              <a:t>Order Service: order processing</a:t>
            </a:r>
          </a:p>
          <a:p>
            <a:r>
              <a:rPr dirty="0"/>
              <a:t>Notification Service: real-time updates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Built with React</a:t>
            </a:r>
            <a:endParaRPr lang="pt-PT" dirty="0"/>
          </a:p>
          <a:p>
            <a:endParaRPr dirty="0"/>
          </a:p>
          <a:p>
            <a:r>
              <a:rPr dirty="0"/>
              <a:t>Enhancements:</a:t>
            </a:r>
          </a:p>
          <a:p>
            <a:pPr lvl="1"/>
            <a:r>
              <a:rPr dirty="0"/>
              <a:t>PayPal integration</a:t>
            </a:r>
          </a:p>
          <a:p>
            <a:pPr lvl="1"/>
            <a:r>
              <a:rPr dirty="0"/>
              <a:t>Notifications module</a:t>
            </a:r>
          </a:p>
          <a:p>
            <a:pPr lvl="1"/>
            <a:r>
              <a:rPr dirty="0"/>
              <a:t>Image retrieval via API Gateway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Backend Infrastructure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MongoDB (shared)</a:t>
            </a:r>
          </a:p>
          <a:p>
            <a:r>
              <a:rPr dirty="0"/>
              <a:t>nginx API Gateway</a:t>
            </a:r>
          </a:p>
          <a:p>
            <a:r>
              <a:rPr dirty="0"/>
              <a:t>Azurite (Blob storage emulator)</a:t>
            </a:r>
          </a:p>
          <a:p>
            <a:r>
              <a:rPr dirty="0"/>
              <a:t>RabbitMQ (messaging)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Notifications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Uses Server-Sent Events (SSE)</a:t>
            </a:r>
          </a:p>
          <a:p>
            <a:endParaRPr dirty="0"/>
          </a:p>
          <a:p>
            <a:r>
              <a:rPr dirty="0"/>
              <a:t>Flow:</a:t>
            </a:r>
          </a:p>
          <a:p>
            <a:pPr lvl="1"/>
            <a:r>
              <a:rPr dirty="0"/>
              <a:t>1. Order created</a:t>
            </a:r>
          </a:p>
          <a:p>
            <a:pPr lvl="1"/>
            <a:r>
              <a:rPr dirty="0"/>
              <a:t>2. Event sent to RabbitMQ</a:t>
            </a:r>
          </a:p>
          <a:p>
            <a:pPr lvl="1"/>
            <a:r>
              <a:rPr dirty="0"/>
              <a:t>3. Notification service processes</a:t>
            </a:r>
          </a:p>
          <a:p>
            <a:pPr lvl="1"/>
            <a:r>
              <a:rPr dirty="0"/>
              <a:t>4. Frontend receives update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33BF9DD-8A45-4EEE-B231-0A14D322E5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31078" y="634946"/>
            <a:ext cx="4931229" cy="1450757"/>
          </a:xfrm>
        </p:spPr>
        <p:txBody>
          <a:bodyPr>
            <a:normAutofit/>
          </a:bodyPr>
          <a:lstStyle/>
          <a:p>
            <a:r>
              <a:t>Deployment with Docker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D9064E3-ABCB-A0D4-BFEF-A152D10DE7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165" y="640081"/>
            <a:ext cx="2711653" cy="5314406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020DCC9-F851-4562-BB20-1AB3C51BF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731077" y="2086188"/>
            <a:ext cx="4567326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1076" y="2198914"/>
            <a:ext cx="4931230" cy="3670180"/>
          </a:xfrm>
        </p:spPr>
        <p:txBody>
          <a:bodyPr>
            <a:normAutofit/>
          </a:bodyPr>
          <a:lstStyle/>
          <a:p>
            <a:r>
              <a:rPr dirty="0"/>
              <a:t>Each service runs in containers</a:t>
            </a:r>
            <a:r>
              <a:rPr lang="pt-PT" dirty="0"/>
              <a:t> </a:t>
            </a:r>
            <a:r>
              <a:rPr lang="pt-PT" dirty="0" err="1"/>
              <a:t>and</a:t>
            </a:r>
            <a:r>
              <a:rPr lang="pt-PT" dirty="0"/>
              <a:t> </a:t>
            </a:r>
            <a:r>
              <a:rPr lang="pt-PT" dirty="0" err="1"/>
              <a:t>has</a:t>
            </a:r>
            <a:r>
              <a:rPr lang="pt-PT" dirty="0"/>
              <a:t> </a:t>
            </a:r>
            <a:r>
              <a:rPr lang="pt-PT" dirty="0" err="1"/>
              <a:t>its</a:t>
            </a:r>
            <a:r>
              <a:rPr lang="pt-PT" dirty="0"/>
              <a:t> </a:t>
            </a:r>
            <a:r>
              <a:rPr lang="pt-PT" dirty="0" err="1"/>
              <a:t>own</a:t>
            </a:r>
            <a:r>
              <a:rPr lang="pt-PT" dirty="0"/>
              <a:t> </a:t>
            </a:r>
            <a:r>
              <a:rPr lang="pt-PT" dirty="0" err="1"/>
              <a:t>dockerfile</a:t>
            </a:r>
            <a:r>
              <a:rPr lang="pt-PT" dirty="0"/>
              <a:t>.</a:t>
            </a:r>
          </a:p>
          <a:p>
            <a:r>
              <a:rPr lang="pt-PT" dirty="0" err="1"/>
              <a:t>Backend</a:t>
            </a:r>
            <a:r>
              <a:rPr lang="pt-PT" dirty="0"/>
              <a:t>, shares </a:t>
            </a:r>
            <a:r>
              <a:rPr lang="pt-PT" dirty="0" err="1"/>
              <a:t>common</a:t>
            </a:r>
            <a:r>
              <a:rPr lang="pt-PT" dirty="0"/>
              <a:t> </a:t>
            </a:r>
            <a:r>
              <a:rPr lang="pt-PT" dirty="0" err="1"/>
              <a:t>project</a:t>
            </a:r>
            <a:r>
              <a:rPr lang="pt-PT" dirty="0"/>
              <a:t> </a:t>
            </a:r>
            <a:r>
              <a:rPr lang="pt-PT" dirty="0" err="1"/>
              <a:t>reused</a:t>
            </a:r>
            <a:r>
              <a:rPr lang="pt-PT" dirty="0"/>
              <a:t> </a:t>
            </a:r>
            <a:r>
              <a:rPr lang="pt-PT" dirty="0" err="1"/>
              <a:t>by</a:t>
            </a:r>
            <a:r>
              <a:rPr lang="pt-PT" dirty="0"/>
              <a:t> </a:t>
            </a:r>
            <a:r>
              <a:rPr lang="pt-PT" dirty="0" err="1"/>
              <a:t>services</a:t>
            </a:r>
            <a:r>
              <a:rPr lang="pt-PT" dirty="0"/>
              <a:t>.</a:t>
            </a:r>
            <a:endParaRPr dirty="0"/>
          </a:p>
          <a:p>
            <a:r>
              <a:rPr dirty="0"/>
              <a:t>Configs:</a:t>
            </a:r>
          </a:p>
          <a:p>
            <a:pPr lvl="1"/>
            <a:r>
              <a:rPr dirty="0"/>
              <a:t>Production</a:t>
            </a:r>
            <a:endParaRPr lang="pt-PT" dirty="0"/>
          </a:p>
          <a:p>
            <a:pPr lvl="2"/>
            <a:r>
              <a:rPr lang="en-US" dirty="0">
                <a:highlight>
                  <a:srgbClr val="C0C0C0"/>
                </a:highlight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docker compose -f </a:t>
            </a:r>
            <a:r>
              <a:rPr lang="en-US" dirty="0" err="1">
                <a:highlight>
                  <a:srgbClr val="C0C0C0"/>
                </a:highlight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docker.compose.yml</a:t>
            </a:r>
            <a:r>
              <a:rPr lang="en-US" dirty="0">
                <a:highlight>
                  <a:srgbClr val="C0C0C0"/>
                </a:highlight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up --build -d</a:t>
            </a:r>
            <a:endParaRPr dirty="0"/>
          </a:p>
          <a:p>
            <a:pPr lvl="1"/>
            <a:r>
              <a:rPr dirty="0"/>
              <a:t>Development</a:t>
            </a:r>
            <a:endParaRPr lang="pt-PT" dirty="0"/>
          </a:p>
          <a:p>
            <a:pPr lvl="2"/>
            <a:r>
              <a:rPr lang="en-US" dirty="0">
                <a:highlight>
                  <a:srgbClr val="C0C0C0"/>
                </a:highlight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docker compose -f </a:t>
            </a:r>
            <a:r>
              <a:rPr lang="en-US" dirty="0" err="1">
                <a:highlight>
                  <a:srgbClr val="C0C0C0"/>
                </a:highlight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docker.compose.yml</a:t>
            </a:r>
            <a:r>
              <a:rPr lang="en-US" dirty="0">
                <a:highlight>
                  <a:srgbClr val="C0C0C0"/>
                </a:highlight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-f </a:t>
            </a:r>
            <a:r>
              <a:rPr lang="en-US" dirty="0" err="1">
                <a:highlight>
                  <a:srgbClr val="C0C0C0"/>
                </a:highlight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docker.compose.dev.yml</a:t>
            </a:r>
            <a:r>
              <a:rPr lang="en-US" dirty="0">
                <a:highlight>
                  <a:srgbClr val="C0C0C0"/>
                </a:highlight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up --build</a:t>
            </a:r>
          </a:p>
          <a:p>
            <a:pPr lvl="2"/>
            <a:endParaRPr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5FBCAC9-BD8B-4F3B-AD74-EF37D4211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6334316"/>
            <a:ext cx="9143989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56C5A8-AD7E-4CE7-87BE-9EA3B5E17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Orchestration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Containers:</a:t>
            </a:r>
          </a:p>
          <a:p>
            <a:pPr lvl="1"/>
            <a:r>
              <a:rPr dirty="0"/>
              <a:t>MongoDB</a:t>
            </a:r>
          </a:p>
          <a:p>
            <a:pPr lvl="1"/>
            <a:r>
              <a:rPr dirty="0"/>
              <a:t>Services</a:t>
            </a:r>
          </a:p>
          <a:p>
            <a:pPr lvl="1"/>
            <a:r>
              <a:rPr dirty="0"/>
              <a:t>RabbitMQ</a:t>
            </a:r>
          </a:p>
          <a:p>
            <a:pPr lvl="1"/>
            <a:r>
              <a:rPr dirty="0"/>
              <a:t>API Gateway</a:t>
            </a:r>
          </a:p>
          <a:p>
            <a:pPr lvl="1"/>
            <a:r>
              <a:rPr dirty="0"/>
              <a:t>Frontend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Service startup timing</a:t>
            </a:r>
            <a:endParaRPr lang="pt-PT" dirty="0"/>
          </a:p>
          <a:p>
            <a:r>
              <a:rPr lang="pt-PT" dirty="0"/>
              <a:t>Reuse app </a:t>
            </a:r>
            <a:r>
              <a:rPr lang="pt-PT" dirty="0" err="1"/>
              <a:t>common</a:t>
            </a:r>
            <a:r>
              <a:rPr lang="pt-PT" dirty="0"/>
              <a:t> </a:t>
            </a:r>
            <a:r>
              <a:rPr lang="pt-PT" dirty="0" err="1"/>
              <a:t>code</a:t>
            </a:r>
            <a:r>
              <a:rPr lang="pt-PT" dirty="0"/>
              <a:t> </a:t>
            </a:r>
            <a:r>
              <a:rPr lang="pt-PT" dirty="0" err="1"/>
              <a:t>without</a:t>
            </a:r>
            <a:r>
              <a:rPr lang="pt-PT" dirty="0"/>
              <a:t> </a:t>
            </a:r>
            <a:r>
              <a:rPr lang="pt-PT" dirty="0" err="1"/>
              <a:t>proper</a:t>
            </a:r>
            <a:r>
              <a:rPr lang="pt-PT" dirty="0"/>
              <a:t> </a:t>
            </a:r>
            <a:r>
              <a:rPr lang="pt-PT" dirty="0" err="1"/>
              <a:t>packing</a:t>
            </a:r>
            <a:endParaRPr dirty="0"/>
          </a:p>
          <a:p>
            <a:r>
              <a:rPr dirty="0"/>
              <a:t>Container networking</a:t>
            </a:r>
          </a:p>
          <a:p>
            <a:r>
              <a:rPr dirty="0"/>
              <a:t>Blob storage access</a:t>
            </a:r>
          </a:p>
          <a:p>
            <a:r>
              <a:rPr dirty="0"/>
              <a:t>SSE implementation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Possible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Add health checks</a:t>
            </a:r>
          </a:p>
          <a:p>
            <a:r>
              <a:rPr dirty="0"/>
              <a:t>Use dedicated API Gateway</a:t>
            </a:r>
          </a:p>
          <a:p>
            <a:r>
              <a:rPr dirty="0"/>
              <a:t>Use real cloud storage</a:t>
            </a:r>
            <a:endParaRPr lang="pt-PT" dirty="0"/>
          </a:p>
          <a:p>
            <a:r>
              <a:rPr lang="pt-PT" dirty="0"/>
              <a:t>Use </a:t>
            </a:r>
            <a:r>
              <a:rPr lang="pt-PT" dirty="0" err="1"/>
              <a:t>npm</a:t>
            </a:r>
            <a:r>
              <a:rPr lang="pt-PT" dirty="0"/>
              <a:t> packages to </a:t>
            </a:r>
            <a:r>
              <a:rPr lang="pt-PT" dirty="0" err="1"/>
              <a:t>reduce</a:t>
            </a:r>
            <a:r>
              <a:rPr lang="pt-PT" dirty="0"/>
              <a:t> </a:t>
            </a:r>
            <a:r>
              <a:rPr lang="pt-PT" dirty="0" err="1"/>
              <a:t>dockerfile</a:t>
            </a:r>
            <a:r>
              <a:rPr lang="pt-PT" dirty="0"/>
              <a:t> </a:t>
            </a:r>
            <a:r>
              <a:rPr lang="pt-PT" dirty="0" err="1"/>
              <a:t>complexity</a:t>
            </a:r>
            <a:r>
              <a:rPr lang="pt-PT" dirty="0"/>
              <a:t>.</a:t>
            </a:r>
            <a:endParaRPr dirty="0"/>
          </a:p>
          <a:p>
            <a:r>
              <a:rPr dirty="0"/>
              <a:t>Improve logging &amp; monitoring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Microservices improve scalability and structure</a:t>
            </a:r>
          </a:p>
          <a:p>
            <a:r>
              <a:t>Docker simplifies deployment</a:t>
            </a:r>
          </a:p>
          <a:p>
            <a:endParaRPr/>
          </a:p>
          <a:p>
            <a:r>
              <a:t>Practical experience with distributed systems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Note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practical project focused on understanding microservices concepts and real-world challenges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tiva">
  <a:themeElements>
    <a:clrScheme name="Retrospetiva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tiv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tiv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24</TotalTime>
  <Words>302</Words>
  <Application>Microsoft Office PowerPoint</Application>
  <PresentationFormat>Apresentação no Ecrã (4:3)</PresentationFormat>
  <Paragraphs>85</Paragraphs>
  <Slides>14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14</vt:i4>
      </vt:variant>
    </vt:vector>
  </HeadingPairs>
  <TitlesOfParts>
    <vt:vector size="17" baseType="lpstr">
      <vt:lpstr>Calibri</vt:lpstr>
      <vt:lpstr>Calibri Light</vt:lpstr>
      <vt:lpstr>Retrospetiva</vt:lpstr>
      <vt:lpstr>Microservices-Based E-Commerce Application</vt:lpstr>
      <vt:lpstr>Project Overview</vt:lpstr>
      <vt:lpstr>Architecture Concept</vt:lpstr>
      <vt:lpstr>Architecture Overview</vt:lpstr>
      <vt:lpstr>Microservices Breakdown</vt:lpstr>
      <vt:lpstr>Frontend</vt:lpstr>
      <vt:lpstr>Backend Infrastructure</vt:lpstr>
      <vt:lpstr>Notifications System</vt:lpstr>
      <vt:lpstr>Deployment with Docker</vt:lpstr>
      <vt:lpstr>System Orchestration</vt:lpstr>
      <vt:lpstr>Challenges</vt:lpstr>
      <vt:lpstr>Possible Improvements</vt:lpstr>
      <vt:lpstr>Conclusion</vt:lpstr>
      <vt:lpstr>Final Note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Pedro Henrique Fernandes</dc:creator>
  <cp:keywords/>
  <dc:description>generated using python-pptx</dc:description>
  <cp:lastModifiedBy>Pedro Henrique Fernandes</cp:lastModifiedBy>
  <cp:revision>3</cp:revision>
  <dcterms:created xsi:type="dcterms:W3CDTF">2013-01-27T09:14:16Z</dcterms:created>
  <dcterms:modified xsi:type="dcterms:W3CDTF">2026-04-20T21:53:01Z</dcterms:modified>
  <cp:category/>
</cp:coreProperties>
</file>